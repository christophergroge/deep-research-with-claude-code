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AI Code Assistants for Federal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Design-Build Phase | Agentic SDLC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GenAI COTS Team | Accenture Federal Services |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7500C0"/>
                </a:solidFill>
              </a:defRPr>
            </a:pPr>
            <a:r>
              <a:t>• Evaluated 22 AI code assistants for federal deployment viability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Two deployment paths: Path A (FedRAMP SaaS) and Path B (Self-Hosted with GovCloud LLMs)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Top recommendations: Tabby (9/10), Continue.dev (8.5/10), Claude Code (8.5/10), Windsurf (8.5/10)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All six evaluated tools provide viable federal paths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Choice depends on security requirements, infrastructure, and feature priorities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500C0"/>
                </a:solidFill>
              </a:defRPr>
            </a:pPr>
            <a:r>
              <a:t>Federal Deployment Paths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Understanding Path A vs Path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Path A: FedRAMP Cloud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Tool vendor provides FedRAMP-authorized cloud service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Lower infrastructure burden - vendor manages compute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Limited to unclassified workloads (IL2-IL4)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Currently only Windsurf has actual FedRAMP High authorization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GitHub Copilot expected to follow (verify status)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Path B: Self-Hosted with GovCloud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Tool runs on-premises or in agency cloud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Connects to authorized LLM backends (AWS Bedrock, Azure OpenAI)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Supports air-gapped and classified workloads (IL5+)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Higher infrastructure responsibility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Multiple excellent options: Tabby, Continue.dev, Tabnine, Qodo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500C0"/>
                </a:solidFill>
              </a:defRPr>
            </a:pPr>
            <a:r>
              <a:t>Federal Viability Matrix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Comparing Top 6 Candidates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Federal Compliance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 anchor="ctr">
                    <a:solidFill>
                      <a:srgbClr val="750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750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Path</a:t>
                      </a:r>
                    </a:p>
                  </a:txBody>
                  <a:tcPr anchor="ctr">
                    <a:solidFill>
                      <a:srgbClr val="750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FedRAMP</a:t>
                      </a:r>
                    </a:p>
                  </a:txBody>
                  <a:tcPr anchor="ctr">
                    <a:solidFill>
                      <a:srgbClr val="750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Air-Gap</a:t>
                      </a:r>
                    </a:p>
                  </a:txBody>
                  <a:tcPr anchor="ctr">
                    <a:solidFill>
                      <a:srgbClr val="750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GovCloud LLM</a:t>
                      </a:r>
                    </a:p>
                  </a:txBody>
                  <a:tcPr anchor="ctr">
                    <a:solidFill>
                      <a:srgbClr val="7500C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Tabby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Bedrock, Azure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Continue.dev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8.5/10</a:t>
                      </a:r>
                    </a:p>
                  </a:txBody>
                  <a:tcPr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Bedrock, Azure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Claude Code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8.5/10</a:t>
                      </a:r>
                    </a:p>
                  </a:txBody>
                  <a:tcPr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Via Bedrock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Bedrock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Windsurf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8.5/10</a:t>
                      </a:r>
                    </a:p>
                  </a:txBody>
                  <a:tcPr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A+B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BYOL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Bedrock, Azure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Tabnine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8/10</a:t>
                      </a:r>
                    </a:p>
                  </a:txBody>
                  <a:tcPr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Bedrock, Azure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Qodo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8/10</a:t>
                      </a:r>
                    </a:p>
                  </a:txBody>
                  <a:tcPr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Bedrock, Azure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Architecture &amp; Capabilities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 anchor="ctr">
                    <a:solidFill>
                      <a:srgbClr val="750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 anchor="ctr">
                    <a:solidFill>
                      <a:srgbClr val="750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Self-Hosted</a:t>
                      </a:r>
                    </a:p>
                  </a:txBody>
                  <a:tcPr anchor="ctr">
                    <a:solidFill>
                      <a:srgbClr val="750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Agentic</a:t>
                      </a:r>
                    </a:p>
                  </a:txBody>
                  <a:tcPr anchor="ctr">
                    <a:solidFill>
                      <a:srgbClr val="750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Code Review</a:t>
                      </a:r>
                    </a:p>
                  </a:txBody>
                  <a:tcPr anchor="ctr">
                    <a:solidFill>
                      <a:srgbClr val="7500C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Tabby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Rust binary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Full features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Continue.dev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IDE extension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Full features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Claude Code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CLI client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Native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Windsurf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IDE (fork)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Reduced*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Cascade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Tabnine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IDE extension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Full features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Qodo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IDE extension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Full features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PR-Agent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500C0"/>
                </a:solidFill>
              </a:defRPr>
            </a:pPr>
            <a:r>
              <a:t>Top Recommendations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Detailed Tool Profiles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Tabby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37160"/>
            <a:ext cx="20116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2286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Score: 9/10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Path: B (Self-Hosted)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Zero cloud dependencies - fully air-gapped capable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Written in Rust for memory safety and performance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Apache 2.0 open-source - no vendor lock-in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Supports AWS Bedrock via OpenAI-compatible API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~$500-2K/month infrastructure for 50 engineers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731520"/>
          </a:xfrm>
          <a:prstGeom prst="roundRect">
            <a:avLst/>
          </a:prstGeom>
          <a:solidFill>
            <a:srgbClr val="F3E8FF"/>
          </a:solidFill>
          <a:ln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00C0"/>
                </a:solidFill>
              </a:defRPr>
            </a:pPr>
            <a:r>
              <a:t>Recommendation: PROCEED - Best for air-gapped/IL5+ environments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Continue.dev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37160"/>
            <a:ext cx="20116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2286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Score: 8.5/10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Path: B (Self-Hosted)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Apache 2.0 open-source with 30K+ GitHub stars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Native AWS Bedrock and Azure OpenAI providers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Full offline mode with Ollama local models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20+ LLM providers supported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Enterprise: SSO, governance, managed proxy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731520"/>
          </a:xfrm>
          <a:prstGeom prst="roundRect">
            <a:avLst/>
          </a:prstGeom>
          <a:solidFill>
            <a:srgbClr val="F3E8FF"/>
          </a:solidFill>
          <a:ln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00C0"/>
                </a:solidFill>
              </a:defRPr>
            </a:pPr>
            <a:r>
              <a:t>Recommendation: PROCEED - Best open-source option with GovCloud flexibility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Claude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37160"/>
            <a:ext cx="20116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2286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Score: 8.5/10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Path: B (Via Bedrock)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CLAUDE_CODE_USE_BEDROCK=1 routes to GovCloud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FedRAMP High, DoD IL4/5 via Bedrock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Telemetry auto-disabled with Bedrock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Terminal-native (no IDE required)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MCP protocol for enterprise integrations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731520"/>
          </a:xfrm>
          <a:prstGeom prst="roundRect">
            <a:avLst/>
          </a:prstGeom>
          <a:solidFill>
            <a:srgbClr val="F3E8FF"/>
          </a:solidFill>
          <a:ln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00C0"/>
                </a:solidFill>
              </a:defRPr>
            </a:pPr>
            <a:r>
              <a:t>Recommendation: CONDITIONAL - Best for AWS GovCloud users (requires internet)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Windsurf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37160"/>
            <a:ext cx="20116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2286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Score: 8.5/10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Path: A+B (Hybrid)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FedRAMP High authorized (March 2025) via Palantir FedStart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DoD IL4, IL5, IL6, ITAR compliant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Hybrid deployment with full features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Self-hosted loses Cascade agentic feature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$60/user/month, 2-4 week 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731520"/>
          </a:xfrm>
          <a:prstGeom prst="roundRect">
            <a:avLst/>
          </a:prstGeom>
          <a:solidFill>
            <a:srgbClr val="F3E8FF"/>
          </a:solidFill>
          <a:ln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500C0"/>
                </a:solidFill>
              </a:defRPr>
            </a:pPr>
            <a:r>
              <a:t>Recommendation: PROCEED - Only actual FedRAMP High certified option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500C0"/>
                </a:solidFill>
              </a:defRPr>
            </a:pPr>
            <a:r>
              <a:t>Path-Based Recommendations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Match Tools to Requirements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Recommendations by Environment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Environment</a:t>
                      </a:r>
                    </a:p>
                  </a:txBody>
                  <a:tcPr anchor="ctr">
                    <a:solidFill>
                      <a:srgbClr val="750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Rank 1</a:t>
                      </a:r>
                    </a:p>
                  </a:txBody>
                  <a:tcPr anchor="ctr">
                    <a:solidFill>
                      <a:srgbClr val="750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Rank 2</a:t>
                      </a:r>
                    </a:p>
                  </a:txBody>
                  <a:tcPr anchor="ctr">
                    <a:solidFill>
                      <a:srgbClr val="750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Rank 3</a:t>
                      </a:r>
                    </a:p>
                  </a:txBody>
                  <a:tcPr anchor="ctr">
                    <a:solidFill>
                      <a:srgbClr val="7500C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Air-Gapped/IL5+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Tabby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Tabnine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Continue+Ollama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AWS GovCloud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Claude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Continue.dev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Windsurf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Azure GovCloud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Continue.dev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Tabnine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Qodo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FedRAMP SaaS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Windsurf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GitHub Copilot*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Amazon Q*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Decision Matrix: When to Choose Each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Maximum air-gap security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0400" y="1097280"/>
            <a:ext cx="365760" cy="228600"/>
          </a:xfrm>
          <a:prstGeom prst="rightArrow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0058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500C0"/>
                </a:solidFill>
              </a:defRPr>
            </a:pPr>
            <a:r>
              <a:t>Tabby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05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08080"/>
                </a:solidFill>
              </a:defRPr>
            </a:pPr>
            <a:r>
              <a:t>Zero cloud deps, Rust, local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FedRAMP SaaS with full features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1691640"/>
            <a:ext cx="365760" cy="228600"/>
          </a:xfrm>
          <a:prstGeom prst="rightArrow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500C0"/>
                </a:solidFill>
              </a:defRPr>
            </a:pPr>
            <a:r>
              <a:t>Windsurf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600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08080"/>
                </a:solidFill>
              </a:defRPr>
            </a:pPr>
            <a:r>
              <a:t>Only FedRAMP High certified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945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Open-source flexibility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00400" y="2286000"/>
            <a:ext cx="365760" cy="228600"/>
          </a:xfrm>
          <a:prstGeom prst="rightArrow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1945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500C0"/>
                </a:solidFill>
              </a:defRPr>
            </a:pPr>
            <a:r>
              <a:t>Continue.dev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194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08080"/>
                </a:solidFill>
              </a:defRPr>
            </a:pPr>
            <a:r>
              <a:t>Apache 2.0, 20+ LLM providers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7889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Terminal/CLI workflow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00400" y="2880360"/>
            <a:ext cx="365760" cy="228600"/>
          </a:xfrm>
          <a:prstGeom prst="rightArrow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7889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500C0"/>
                </a:solidFill>
              </a:defRPr>
            </a:pPr>
            <a:r>
              <a:t>Claude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788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08080"/>
                </a:solidFill>
              </a:defRPr>
            </a:pPr>
            <a:r>
              <a:t>Native terminal, agentic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383279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Enterprise air-gap + support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200400" y="3474720"/>
            <a:ext cx="365760" cy="228600"/>
          </a:xfrm>
          <a:prstGeom prst="rightArrow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383279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500C0"/>
                </a:solidFill>
              </a:defRPr>
            </a:pPr>
            <a:r>
              <a:t>Tabnine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8327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08080"/>
                </a:solidFill>
              </a:defRPr>
            </a:pPr>
            <a:r>
              <a:t>SOC 2, IP indemnification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977639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Code review + testing focus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200400" y="4069079"/>
            <a:ext cx="365760" cy="228600"/>
          </a:xfrm>
          <a:prstGeom prst="rightArrow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977639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500C0"/>
                </a:solidFill>
              </a:defRPr>
            </a:pPr>
            <a:r>
              <a:t>Qodo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97763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08080"/>
                </a:solidFill>
              </a:defRPr>
            </a:pPr>
            <a:r>
              <a:t>PR-Agent, test generation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POC Deployment: Deploy Tabby or Continue.dev in non-production environment (1-3 days)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Pilot Program: 5-10 developers for 2-4 weeks with metrics collection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Security Review: Source code audit for classified deployments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Infrastructure Planning: GPU provisioning for self-hosted options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Vendor Engagement: Contact Windsurf for FedRAMP hybrid deployment timeline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500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</a:defRPr>
            </a:pPr>
            <a:r>
              <a:t>→ Air-Gapped/Classified: Tabby is the gold standard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</a:defRPr>
            </a:pPr>
            <a:r>
              <a:t>→ AWS GovCloud: Claude Code via Bedrock offers FedRAMP High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</a:defRPr>
            </a:pPr>
            <a:r>
              <a:t>→ Flexibility: Continue.dev provides maximum LLM choice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</a:defRPr>
            </a:pPr>
            <a:r>
              <a:t>→ Enterprise SaaS: Windsurf is the only FedRAMP High certified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</a:defRPr>
            </a:pPr>
            <a:r>
              <a:t>→ All six tools provide viable federal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DC"/>
                </a:solidFill>
              </a:defRPr>
            </a:pPr>
            <a:r>
              <a:t>Contact: christopher.g.roge@afs.com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